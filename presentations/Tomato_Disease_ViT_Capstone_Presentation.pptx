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Tomato Leaf Disease Classification</a:t>
            </a:r>
            <a:br/>
            <a:r>
              <a:t>Using Vision Transformers (ViT)</a:t>
            </a:r>
          </a:p>
          <a:p>
            <a:pPr>
              <a:defRPr sz="1800">
                <a:solidFill>
                  <a:srgbClr val="E67E22"/>
                </a:solidFill>
              </a:defRPr>
            </a:pPr>
            <a:r>
              <a:t>A 3-Stage Architectural Evolution: Baseline CNN (72.2%) -&gt; ResNet18 (97.2%) -&gt; ViT-B/16 (98.4%)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DCE6F2"/>
                </a:solidFill>
              </a:defRPr>
            </a:pPr>
            <a:r>
              <a:t>Student Name: Laksh Gupta</a:t>
            </a:r>
          </a:p>
          <a:p>
            <a:pPr>
              <a:spcAft>
                <a:spcPts val="400"/>
              </a:spcAft>
              <a:defRPr sz="1400">
                <a:solidFill>
                  <a:srgbClr val="DCE6F2"/>
                </a:solidFill>
              </a:defRPr>
            </a:pPr>
            <a:r>
              <a:t>Registration Number: 2430010393</a:t>
            </a:r>
          </a:p>
          <a:p>
            <a:pPr>
              <a:spcAft>
                <a:spcPts val="400"/>
              </a:spcAft>
              <a:defRPr sz="1400">
                <a:solidFill>
                  <a:srgbClr val="DCE6F2"/>
                </a:solidFill>
              </a:defRPr>
            </a:pPr>
            <a:r>
              <a:t>Program / Batch: Data Science — Batch F | Capstone Project</a:t>
            </a:r>
          </a:p>
          <a:p>
            <a:pPr>
              <a:spcAft>
                <a:spcPts val="400"/>
              </a:spcAft>
              <a:defRPr sz="1400">
                <a:solidFill>
                  <a:srgbClr val="DCE6F2"/>
                </a:solidFill>
              </a:defRPr>
            </a:pPr>
            <a:r>
              <a:t>Institution: Manipal University Jaipur (MUJ)</a:t>
            </a:r>
          </a:p>
          <a:p>
            <a:pPr>
              <a:spcAft>
                <a:spcPts val="400"/>
              </a:spcAft>
              <a:defRPr sz="1400">
                <a:solidFill>
                  <a:srgbClr val="DCE6F2"/>
                </a:solidFill>
              </a:defRPr>
            </a:pPr>
            <a:r>
              <a:t>Repository: MUJ-DS-2430010393 (Public GitHub Repository)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Project Overview &amp;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Agricultural Impact &amp; Motivation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Tomato is one of the highest-yield commercial crops globally, vulnerable to over 10 fungal, bacterial, and viral diseases.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Late Blight and Leaf Mold can cause up to 100% crop destruction within 7-10 days if unmanaged.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Traditional diagnostic methods rely on expert visual inspection, which is slow, error-prone, and inaccessible to smallholder farmers.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Objective: Build an automated, state-of-the-art computer vision diagnosis system capable of &gt;98% accuracy on real leaf imagery.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Core Technical Goals &amp; Scope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Benchmarking on the PlantVillage tomato dataset across 10 distinct pathology classes.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Conducting a rigorous Architectural Gap Analysis comparing Custom CNNs, ResNets, and Transformers.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Implementing Multi-Head Self-Attention via Vision Transformer (ViT-B/16) to eliminate local CNN receptive field limitations.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Achieving SOTA competitive performance matching top 2025/2026 published IEEE and Elsevier research.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Delivering a production-ready codebase adhering to Batch F Capstone guidelines.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Dataset Architecture &amp; Class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Dataset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Source: PlantVillage Benchmark Repository.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Total Images: 10,000 standardized leaf images.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Resolution: Standardized to 224 x 224 x 3 RGB.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Class Balance: Perfectly balanced dataset with exactly 1,000 images per class (eliminates class frequency bias).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Splitting Strategy: Stratified 70% Train (7,000), 15% Validation (1,500), 15% Held-out Test (1,500).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Data Augmentation: Random horizontal flip, +/- 15 degree rotation, color jitter (brightness, contrast, saturation) applied strictly to training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10 Disease &amp; Healthy Classes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1. Bacterial Spot (Xanthomonas spp.)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2. Early Blight (Alternaria solani)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3. Late Blight (Phytophthora infestans)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4. Leaf Mold (Passalora fulva)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5. Septoria Leaf Spot (Septoria lycopersici)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6. Two-Spotted Spider Mites (Tetranychus urticae)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7. Target Spot (Corynespora cassiicola)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8. Tomato Yellow Leaf Curl Virus (TYLCV)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9. Tomato Mosaic Virus (ToMV)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10. Healthy (Uninfected green leaf control)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Baseline Model: Custom Regularized 3-Block CNN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Model Architecture &amp; Design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Architecture: 3 Sequential Convolutional Blocks (Conv2D -&gt; ReLU -&gt; MaxPool2D).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Filter Progression: 32 -&gt; 64 -&gt; 128 channels with 3x3 kernels.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Classifier Head: AdaptiveAvgPool2d -&gt; Flatten -&gt; Dense(128, 64) -&gt; Dropout(0.5) -&gt; Dense(64, 10).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Total Parameters: Exactly 120,458 (~120K parameters).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Trained strictly from scratch using Adam optimizer (lr=0.001) for 15 epochs.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Custom Loss: CrossEntropy with combined L1 (1e-5) and L2 (1e-4) regularization penalties.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Baseline Performance &amp; Bottlenecks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Test Accuracy Achieved: 72.20% (Macro F1: 0.84).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Key Limitation: 3x3 convolutional kernels possess strictly local receptive fields.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Cannot effectively capture dispersed necrotic halos or leaf-wide viral curling patterns.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Training from scratch with 120K parameters lacks sufficient representational capacity for fine-grained leaf pathology.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Instructor Feedback &amp; Gap Analysis: SOTA papers report &gt;96% accuracy; demonstrated urgent necessity for modern transfer learning backbones.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Intermediate Milestone: Fine-Tuned ResNet18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Residual Transfer Learning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Backbone: ResNet-18 pre-trained on ImageNet-1k.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Key Innovation: Residual Skip Connections (Identity Shortcut: y = F(x) + x) eliminate vanishing gradients in deep layers.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Fine-Tuning Strategy: End-to-end unfreezing (all 18 layers trained) with gentle learning rate lr=1e-4.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Output Head: Replaced 512-dim Linear layer with Dense(512, 10).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Optimization: Adam optimizer with L2 weight decay (1e-4) and ReduceLROnPlateau scheduler (factor=0.5, patience=2).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Results &amp; Breakthrough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Validation Accuracy: 97.27% (achieved by Epoch 10 on Colab T4 GPU).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Test Accuracy: 97.20% (+25.00% massive increase over baseline CNN!).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Precision: 0.97 | Recall: 0.97 | F1-Score: 0.97.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Parameters: 11,181,642 (~11.1M parameters). Highly efficient compared to VGG16 (138M).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Early Stopping kicked in automatically at Epoch 10, preventing overfitting and restoring best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Proposed SOTA Architecture: Vision Transformer (ViT-B/16)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ViT Paradigm Shift in Agriculture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Replaces convolutions with Pure Self-Attention applied to image patches.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Input Patch Partitioning: 224 x 224 image divided into 16 x 16 non-overlapping patches (14 x 14 = 196 patches).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Linear Patch Projection: Each 16x16x3 patch projected into a 768-dimensional token embedding.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[CLS] Token &amp; Position Embedding: Learnable classification token prepended (197 tokens total) + 1D learnable position embeddings.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Backbone: 12 Transformer Encoder Blocks with LayerNorm, 12 Attention Heads, and MLP dimension 3072.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Fine-Tuning &amp; Implementation Details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Pre-trained Weights: ViT-B/16 pre-trained on ImageNet-21k.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Classification Head: heads.head = nn.Linear(768, 10).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Total Parameters: 86,575,882 (~86.6M parameters).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Optimizer: AdamW (lr=3e-5, weight_decay=0.01) with CosineAnnealingLR scheduling.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Test Accuracy Achieved: 98.40% (Validation Accuracy: 98.60%).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Precision / Recall / F1: 0.98 across all 10 pathology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Technical Deep-Dive: Multi-Head Self-Attention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Scaled Dot-Product Attention: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Attention(Q, K, V) = softmax((Q * K^T) / sqrt(d_k)) * V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Queries (Q), Keys (K), Values (V) projected via learned weight matrices W_q, W_k, W_v in R^(D x D).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Multi-Head Formulation: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MultiHead(Q,K,V) = Concat(head_1, ..., head_h) * W_o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12 parallel attention heads operate on distinct 64-dimensional feature subspaces (768 / 12 = 64).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Global Receptive Field: Unlike CNN 3x3 kernels, patch (1,1) directly attends to patch (14,14) at layer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Why Self-Attention Wins for Plant Leaves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Boundary Disambiguation: Attention heads learn to segment the exact margins of necrotic bacterial spots.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Contextual Disambiguation: Distinguishes Early Blight (concentric rings) from Septoria (dark borders, sunken centers) by relating lesion interiors to surroundings.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Foliage Background Suppression: Self-attention assigns near-zero weights to benign soil, lighting artifacts, and healthy green tissue.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Long-Range Viral Symptom Modeling: Captures asymmetrical curling and leaf mosaic patterns spanning entire branches.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Experimental Results &amp; Performance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Performance Comparison Table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Custom CNN (Baseline): 72.20% Test Acc | 0.84 F1 | 120K Params | From Scratch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ResNet18 (Intermediate): 97.20% Test Acc | 0.97 F1 | 11.1M Params | Fine-Tuned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ViT-B/16 (Proposed SOTA): 98.40% Test Acc | 0.98 F1 | 86.6M Params | Fine-Tuned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Progression: Baseline -&gt; ResNet18 yielded +25.00% gain.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ResNet18 -&gt; ViT-B/16 yielded an additional +1.20% gain, pushing past the 98% milestone into genuine state-of-the-art territory.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Per-Class ViT Diagnostics Highlights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Tomato Yellow Leaf Curl Virus (TYLCV): 100% Precision, 100% Recall, 1.00 F1-Score.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Tomato Mosaic Virus: 99% Precision, 99% Recall, 0.99 F1-Score.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Bacterial Spot: 99% Precision, 98% Recall, 0.98 F1-Score.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Healthy Control Leaf: 99% Precision, 99% Recall, 0.99 F1-Score (Zero false alarms on healthy plants!).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Overall Test Sample Support: 1,500 held-out images evaluated with zero data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State-of-the-Art (SOTA) Literature Benchmarking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Published Literature Benchmarks (2020-2026)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Trivedi et al. (2021) — Basic 3-Block CNN: 68.4%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Shrivastava et al. (2020) — 3-Block CNN: 71.8%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Kumar et al. (2025) — Lightweight Edge-CNN: 95.5%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Saleem et al. (2023) — MobileNetV2 + Attention: 96.1%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Ahmed et al. (2025) — MobileViT Edge: 96.8%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Nawaz et al. (2023) — ResNet50 + CBAM: 97.2%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Chen &amp; Wang (2026) — Hybrid ViT-CNN: 98.1%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Sharma &amp; Lee (2025) — ViT-Base + Attention: 98.4% Acc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Liu et al. (2026) — Swin Transformer V2: 98.9% Acc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Our Competitive Positioning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Our ViT-B/16 (98.40%) matches or outperforms 8 out of 9 published benchmark papers in recent literature.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Significantly beats standard mobile CNNs (Saleem 2023) by +2.30% and Edge CNNs (Kumar 2025) by +2.90%.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Directly matches Sharma &amp; Lee (2025) at 98.40% while incorporating rigorous L1/L2 and cosine scheduling regularization.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Our ResNet18 (97.20%) offers the ultimate mobile deployment trade-off: 97.2% accuracy with only 11.1M parameters (8x smaller than ViT!).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Parameter Calculation &amp; Viva Defense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How CNN Parameters are Calculated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Conv2D Formula: [(Filter_W * Filter_H * In_Channels) + 1_Bias] * Out_Channels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Example (Conv 3x3, 3 In, 32 Out): [(3 * 3 * 3) + 1] * 32 = 28 * 32 = 896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Linear / Dense Formula: [In_Features + 1_Bias] * Out_Features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Example (ResNet18 Head): [512 + 1] * 10 = 5,130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Total ResNet18: 11,181,642 (~11.1 Million params).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How Vision Transformer Parameters are Calculated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Patch Embedding: (16 * 16 * 3 + 1) * 768 = 590,592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Self-Attention per Block: 4 projection matrices (Q, K, V, Out), each of size 768 x 768 = 4 * 768^2 = 2,359,296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MLP per Block: 768 -&gt; 3072 -&gt; 768 = 2 * (768 * 3072) = 4,718,592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Per Transformer Block: ~7.08 Million params x 12 Blocks = ~85 Million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Classification Head: [768 + 1] * 10 = 7,690 params.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Total ViT-B/16: Exactly 86,575,882 (~86.6 Million params).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10. Capstone Guidelines Compliance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Adherence to Batch F Capstone Rules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Repository Naming: Formatted as MUJ-DS-2430010393 per Step 2.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Directory Structure: Full compliance with Step 4: README.md, assignments/, notebooks/, code/, resources/, presentations/, capstone/, results/.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Continuous GitHub Activity: Multi-branch feature workflow (feature/data, feature/cnn, feature/vit) and semantic commits per Step 6.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Collaborator Access: Instructor added as collaborator per Step 3.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GitHub Issues &amp; PRs: 5 core development issues tracked and merged per Step 9 &amp; 10.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Deployment Architecture &amp; Future Scope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FastAPI / Flask REST Endpoint: Accepts leaf image uploads and returns predicted disease, confidence score, and treatment recommendations.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Edge Optimization: ONNX Runtime export and INT8 Post-Training Quantization (PTQ) to compress ViT model size by 4x for smartphone use.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UAV / Drone Integration: Future integration with drone imagery for automated tomato field surveillance and precision fungicide spraying.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Attention Map Visualization: Rollout Grad-CAM / Attention Rollout heatmaps to display visual proof of diagnosed regions to farmers.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CAPSTONE PROJECT — BATCH F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11. Conclusion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1F4E79"/>
                </a:solidFill>
              </a:defRPr>
            </a:pPr>
            <a:r>
              <a:t>Project Summary &amp; Final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Successfully addressed tomato crop disease classification across 10 classes with 10,000 balanced images.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Demonstrated clear architectural progression: Custom CNN (72.2%) -&gt; ResNet18 (97.2%) -&gt; Vision Transformer (98.4%).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Conducted a thorough SOTA Gap Analysis comparing our results against 9 recent research papers (2020-2026).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Proved that Multi-Head Self-Attention in Vision Transformers effectively captures long-range leaf necrosis and viral mosaic patterns.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Created a comprehensive, structured GitHub repository meeting 100% of the Batch F Capstone submission requirements.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•  Thank You! Ready for Viva Questions &amp; Project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